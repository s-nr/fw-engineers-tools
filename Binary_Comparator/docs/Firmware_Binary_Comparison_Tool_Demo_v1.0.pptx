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tool: a desktop and command-line utility for embedded firmware engineers. Goal of the demo: show how quickly we can answer 'what exactly changed between these two builds?'.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scene with the four questions. Mention the watchdog example we will use later: a 3-line change produced 92,000 different 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capability areas. Everything runs locally, needs only Python 3.11, and never modifies the firmware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Layers: formats parse and validate files; core holds the engine (IntervalSet-based differences, analysis, symbols, controller detection); session orchestrates; GUI, CLI and reports are thin front ends. Standard library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union-of-addresses idea and the run-based storage that keeps large images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Live: drop Analysis_Board_Firmware.hex (old) and the watchdog-commented build (new), load both ELFs as symbol files. Point out the controller row: STM32F411RET, Cortex-M4 with FPU.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the byte count is huge, the real change is tiny. The 'What changed' list shows exactly the watchdog edit.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innovation. Removing a call shifts later code, changing branch offsets and literal pools everywhere. The tool resolves each reference to symbol+offset in both builds and only counts real content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is hidden: switch the filter to see the 762 side effects and their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Double-click peripheralInit in the function list to jump here. Show n / p keys and the 1-byte table layout (Address | A | B | Status).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project with Bootloader / Application / Calibration / Diagnostics and expected areas for version, build timestamp, git hash and CRC. Bootloader and Calibration are EXPECTED CHANGE only; Application and Diagnostics have unexpected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Blocks can be sorted by address, size or region and filtered by class or size; each row names the function. The map: red = unexpected, amber = expected only; click a cell to open the hex 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areas are never assumed — the engineer configures them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identification lists its evidence and confidence. An application at 0x08040000 is flagged as sitting behind a bootloader.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Metadata detection is heuristic and says so. Checksums never assume the firmware's own CRC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one-line CI usage: firmware-diff old.bin new.bin --regions project.json --report r.html. A non-zero exit code fails the pipeline on unexpected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docs/sample_comparison_report.html in a browser to show the full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freeze: v1.0.0 baseline with a SHA-256 manifest of every file (docs/FREEZE_v1.0.0.md).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feedback on priorities for the next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where to find the tool, the design document and the freeze manifest.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0" y="822960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47888" y="822960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31936" y="822960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15984" y="822960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00032" y="822960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84080" y="822960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8128" y="822960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52176" y="822960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36224" y="822960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320272" y="822960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207008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7888" y="1207008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31936" y="1207008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15984" y="1207008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00032" y="1207008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84080" y="1207008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68128" y="1207008"/>
            <a:ext cx="329184" cy="329184"/>
          </a:xfrm>
          <a:prstGeom prst="rect">
            <a:avLst/>
          </a:prstGeom>
          <a:solidFill>
            <a:srgbClr val="C0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52176" y="1207008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36224" y="1207008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320272" y="1207008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840" y="1591056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47888" y="1591056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31936" y="1591056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1591056"/>
            <a:ext cx="329184" cy="329184"/>
          </a:xfrm>
          <a:prstGeom prst="rect">
            <a:avLst/>
          </a:prstGeom>
          <a:solidFill>
            <a:srgbClr val="C0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00032" y="1591056"/>
            <a:ext cx="329184" cy="329184"/>
          </a:xfrm>
          <a:prstGeom prst="rect">
            <a:avLst/>
          </a:prstGeom>
          <a:solidFill>
            <a:srgbClr val="C0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1591056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68128" y="1591056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52176" y="1591056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36224" y="1591056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20272" y="1591056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0" y="1975104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47888" y="1975104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31936" y="1975104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15984" y="1975104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00032" y="1975104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84080" y="1975104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68128" y="1975104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552176" y="1975104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936224" y="1975104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320272" y="1975104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63840" y="2359152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47888" y="2359152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31936" y="2359152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15984" y="2359152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400032" y="2359152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84080" y="2359152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168128" y="2359152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52176" y="2359152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936224" y="2359152"/>
            <a:ext cx="329184" cy="329184"/>
          </a:xfrm>
          <a:prstGeom prst="rect">
            <a:avLst/>
          </a:prstGeom>
          <a:solidFill>
            <a:srgbClr val="C0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20272" y="2359152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863840" y="2743200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47888" y="2743200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631936" y="2743200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15984" y="2743200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00032" y="2743200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84080" y="2743200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168128" y="2743200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552176" y="2743200"/>
            <a:ext cx="329184" cy="329184"/>
          </a:xfrm>
          <a:prstGeom prst="rect">
            <a:avLst/>
          </a:prstGeom>
          <a:solidFill>
            <a:srgbClr val="3B4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936224" y="2743200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320272" y="2743200"/>
            <a:ext cx="329184" cy="32918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1463040"/>
            <a:ext cx="69494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Firmware Binary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2194560"/>
            <a:ext cx="69494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Comparison Tool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3154680"/>
            <a:ext cx="69494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Segoe UI"/>
              </a:rPr>
              <a:t>Know exactly what changed between two firmware builds —
where, in which function, and whether it was expected.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983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Segoe UI"/>
              </a:rPr>
              <a:t>Demo  ·  v1.0.0 frozen baseline  ·  16 October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54406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.bin  ·  Intel .hex  ·  .elf     |     GUI  ·  CLI  ·  HTML / CSV / JSON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Why a byte diff is not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Questions engineers actually ask before releasing firmware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269748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82296" cy="2011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54480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Segoe UI"/>
              </a:rPr>
              <a:t>Where did it change?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84248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606D"/>
                </a:solidFill>
                <a:latin typeface="Segoe UI"/>
              </a:rPr>
              <a:t>MCU addresses, not file offsets. BIN, HEX and ELF use different address views.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1417320"/>
            <a:ext cx="269748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5848" y="1417320"/>
            <a:ext cx="82296" cy="201168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1554480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A16207"/>
                </a:solidFill>
                <a:latin typeface="Segoe UI"/>
              </a:rPr>
              <a:t>Was it expected?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1984248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606D"/>
                </a:solidFill>
                <a:latin typeface="Segoe UI"/>
              </a:rPr>
              <a:t>Version strings, build timestamps and CRCs always change — real changes must stand out.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417320"/>
            <a:ext cx="269748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1417320"/>
            <a:ext cx="82296" cy="2011680"/>
          </a:xfrm>
          <a:prstGeom prst="rect">
            <a:avLst/>
          </a:prstGeom>
          <a:solidFill>
            <a:srgbClr val="C0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1554480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C02626"/>
                </a:solidFill>
                <a:latin typeface="Segoe UI"/>
              </a:rPr>
              <a:t>Which function?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1984248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606D"/>
                </a:solidFill>
                <a:latin typeface="Segoe UI"/>
              </a:rPr>
              <a:t>Removing one call shifts all later code: hundreds of functions differ without being edited.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1704" y="1417320"/>
            <a:ext cx="269748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1704" y="1417320"/>
            <a:ext cx="82296" cy="2011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0304" y="1554480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  <a:latin typeface="Segoe UI"/>
              </a:rPr>
              <a:t>Which controller?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0304" y="1984248"/>
            <a:ext cx="237744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606D"/>
                </a:solidFill>
                <a:latin typeface="Segoe UI"/>
              </a:rPr>
              <a:t>Is this image really for the STM32F411 / PIC32MX575 we expect?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7947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800">
                <a:solidFill>
                  <a:srgbClr val="1F2933"/>
                </a:solidFill>
                <a:latin typeface="Segoe UI"/>
              </a:rPr>
              <a:t>Generic diff tools </a:t>
            </a:r>
            <a:r>
              <a:rPr sz="1800">
                <a:solidFill>
                  <a:srgbClr val="1F2933"/>
                </a:solidFill>
                <a:latin typeface="Segoe UI"/>
              </a:rPr>
              <a:t>show offsets and raw bytes — no regions, no expectations, no symbols.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800">
                <a:solidFill>
                  <a:srgbClr val="1F2933"/>
                </a:solidFill>
                <a:latin typeface="Segoe UI"/>
              </a:rPr>
              <a:t>Manual review </a:t>
            </a:r>
            <a:r>
              <a:rPr sz="1800">
                <a:solidFill>
                  <a:srgbClr val="1F2933"/>
                </a:solidFill>
                <a:latin typeface="Segoe UI"/>
              </a:rPr>
              <a:t>of hex dumps is slow and misses changes hidden behind code shifts.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800">
                <a:solidFill>
                  <a:srgbClr val="1F2933"/>
                </a:solidFill>
                <a:latin typeface="Segoe UI"/>
              </a:rPr>
              <a:t>This tool </a:t>
            </a:r>
            <a:r>
              <a:rPr sz="1800">
                <a:solidFill>
                  <a:srgbClr val="1F2933"/>
                </a:solidFill>
                <a:latin typeface="Segoe UI"/>
              </a:rPr>
              <a:t>answers all four questions in one view, and as a CI gate from the command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What the tool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Feature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3611880" cy="224028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82296" cy="22402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0876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Segoe UI"/>
              </a:rPr>
              <a:t>Byte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38528"/>
            <a:ext cx="32918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606D"/>
                </a:solidFill>
                <a:latin typeface="Segoe UI"/>
              </a:rPr>
              <a:t>BIN / HEX / ELF by MCU address, size changes, gap fill, 64 MB in ~0.1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611880" cy="224028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82296" cy="2240280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50876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A16207"/>
                </a:solidFill>
                <a:latin typeface="Segoe UI"/>
              </a:rPr>
              <a:t>Regions &amp; expectations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938528"/>
            <a:ext cx="32918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606D"/>
                </a:solidFill>
                <a:latin typeface="Segoe UI"/>
              </a:rPr>
              <a:t>Named regions, expected areas (version, CRC …), EXPECTED vs UNEXPECTED verdict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371600"/>
            <a:ext cx="3611880" cy="224028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71600"/>
            <a:ext cx="82296" cy="2240280"/>
          </a:xfrm>
          <a:prstGeom prst="rect">
            <a:avLst/>
          </a:prstGeom>
          <a:solidFill>
            <a:srgbClr val="C0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0876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C02626"/>
                </a:solidFill>
                <a:latin typeface="Segoe UI"/>
              </a:rPr>
              <a:t>Functions &amp; modules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938528"/>
            <a:ext cx="32918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606D"/>
                </a:solidFill>
                <a:latin typeface="Segoe UI"/>
              </a:rPr>
              <a:t>ELF / linker map symbols, relocation-aware: real edits vs side effects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40480"/>
            <a:ext cx="3611880" cy="224028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840480"/>
            <a:ext cx="82296" cy="22402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7764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  <a:latin typeface="Segoe UI"/>
              </a:rPr>
              <a:t>Controller identification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07408"/>
            <a:ext cx="32918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606D"/>
                </a:solidFill>
                <a:latin typeface="Segoe UI"/>
              </a:rPr>
              <a:t>STM32F411RET, PIC32MX575F512L … with evidence and confidence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840480"/>
            <a:ext cx="3611880" cy="224028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840480"/>
            <a:ext cx="82296" cy="22402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97764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5803D"/>
                </a:solidFill>
                <a:latin typeface="Segoe UI"/>
              </a:rPr>
              <a:t>Hex viewer &amp; memory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407408"/>
            <a:ext cx="32918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606D"/>
                </a:solidFill>
                <a:latin typeface="Segoe UI"/>
              </a:rPr>
              <a:t>Synchronised hex view, navigation, search, filters, visual block 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3840480"/>
            <a:ext cx="3611880" cy="224028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2440" y="3840480"/>
            <a:ext cx="82296" cy="224028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97764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1E293B"/>
                </a:solidFill>
                <a:latin typeface="Segoe UI"/>
              </a:rPr>
              <a:t>Reports &amp; CLI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407408"/>
            <a:ext cx="32918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606D"/>
                </a:solidFill>
                <a:latin typeface="Segoe UI"/>
              </a:rPr>
              <a:t>HTML, CSV, JSON; firmware-diff with CI exit codes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GUI-independent engine shared by GUI, CLI and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4</a:t>
            </a:r>
          </a:p>
        </p:txBody>
      </p:sp>
      <p:pic>
        <p:nvPicPr>
          <p:cNvPr id="10" name="Picture 9" descr="00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047" y="1234440"/>
            <a:ext cx="869542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How a comparison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Five steps — the expensive one runs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5</a:t>
            </a:r>
          </a:p>
        </p:txBody>
      </p:sp>
      <p:pic>
        <p:nvPicPr>
          <p:cNvPr id="10" name="Picture 9" descr="00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65" y="1280160"/>
            <a:ext cx="11100390" cy="2651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0690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700">
                <a:solidFill>
                  <a:srgbClr val="1F2933"/>
                </a:solidFill>
                <a:latin typeface="Segoe UI"/>
              </a:rPr>
              <a:t>Union of addresses: </a:t>
            </a:r>
            <a:r>
              <a:rPr sz="1700">
                <a:solidFill>
                  <a:srgbClr val="1F2933"/>
                </a:solidFill>
                <a:latin typeface="Segoe UI"/>
              </a:rPr>
              <a:t>bytes present in only one image are differences — nothing is silently ignored.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700">
                <a:solidFill>
                  <a:srgbClr val="1F2933"/>
                </a:solidFill>
                <a:latin typeface="Segoe UI"/>
              </a:rPr>
              <a:t>Hierarchical scan: </a:t>
            </a:r>
            <a:r>
              <a:rPr sz="1700">
                <a:solidFill>
                  <a:srgbClr val="1F2933"/>
                </a:solidFill>
                <a:latin typeface="Segoe UI"/>
              </a:rPr>
              <a:t>64 KiB chunks, identical areas skipped at memcmp speed, differences stored as runs.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700">
                <a:solidFill>
                  <a:srgbClr val="1F2933"/>
                </a:solidFill>
                <a:latin typeface="Segoe UI"/>
              </a:rPr>
              <a:t>Instant re-analysis: </a:t>
            </a:r>
            <a:r>
              <a:rPr sz="1700">
                <a:solidFill>
                  <a:srgbClr val="1F2933"/>
                </a:solidFill>
                <a:latin typeface="Segoe UI"/>
              </a:rPr>
              <a:t>editing regions, expected areas or symbol files does not re-compare bytes.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Step 1 · Select the firmware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Drop zones, base address, symbol files,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6</a:t>
            </a:r>
          </a:p>
        </p:txBody>
      </p:sp>
      <p:pic>
        <p:nvPicPr>
          <p:cNvPr id="10" name="Picture 9" descr="02_files_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234440"/>
            <a:ext cx="8001000" cy="5120640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006840" y="1463040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400">
                <a:solidFill>
                  <a:srgbClr val="1F2933"/>
                </a:solidFill>
                <a:latin typeface="Segoe UI"/>
              </a:rPr>
              <a:t>A / B cards: </a:t>
            </a:r>
            <a:r>
              <a:rPr sz="1400">
                <a:solidFill>
                  <a:srgbClr val="1F2933"/>
                </a:solidFill>
                <a:latin typeface="Segoe UI"/>
              </a:rPr>
              <a:t>click or drop a file; name, size, SHA-256, format, address range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400">
                <a:solidFill>
                  <a:srgbClr val="1F2933"/>
                </a:solidFill>
                <a:latin typeface="Segoe UI"/>
              </a:rPr>
              <a:t>Base address </a:t>
            </a:r>
            <a:r>
              <a:rPr sz="1400">
                <a:solidFill>
                  <a:srgbClr val="1F2933"/>
                </a:solidFill>
                <a:latin typeface="Segoe UI"/>
              </a:rPr>
              <a:t>for raw .bin files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400">
                <a:solidFill>
                  <a:srgbClr val="1F2933"/>
                </a:solidFill>
                <a:latin typeface="Segoe UI"/>
              </a:rPr>
              <a:t>Controller </a:t>
            </a:r>
            <a:r>
              <a:rPr sz="1400">
                <a:solidFill>
                  <a:srgbClr val="1F2933"/>
                </a:solidFill>
                <a:latin typeface="Segoe UI"/>
              </a:rPr>
              <a:t>identified automatically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400">
                <a:solidFill>
                  <a:srgbClr val="1F2933"/>
                </a:solidFill>
                <a:latin typeface="Segoe UI"/>
              </a:rPr>
              <a:t>Symbol files </a:t>
            </a:r>
            <a:r>
              <a:rPr sz="1400">
                <a:solidFill>
                  <a:srgbClr val="1F2933"/>
                </a:solidFill>
                <a:latin typeface="Segoe UI"/>
              </a:rPr>
              <a:t>(ELF / .map) unlock function-level results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400">
                <a:solidFill>
                  <a:srgbClr val="1F2933"/>
                </a:solidFill>
                <a:latin typeface="Segoe UI"/>
              </a:rPr>
              <a:t>Compare </a:t>
            </a:r>
            <a:r>
              <a:rPr sz="1400">
                <a:solidFill>
                  <a:srgbClr val="1F2933"/>
                </a:solidFill>
                <a:latin typeface="Segoe UI"/>
              </a:rPr>
              <a:t>runs automatically →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Step 2 · The answer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Verdict, key numbers and what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7</a:t>
            </a:r>
          </a:p>
        </p:txBody>
      </p:sp>
      <p:pic>
        <p:nvPicPr>
          <p:cNvPr id="10" name="Picture 9" descr="03_summary_watchd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234440"/>
            <a:ext cx="8001000" cy="5120640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9052560" y="1554480"/>
            <a:ext cx="2834640" cy="502920"/>
          </a:xfrm>
          <a:prstGeom prst="roundRect">
            <a:avLst>
              <a:gd name="adj" fmla="val 25000"/>
            </a:avLst>
          </a:prstGeom>
          <a:solidFill>
            <a:srgbClr val="C0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92,007 bytes differ (76 %)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148840"/>
            <a:ext cx="28346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606D"/>
                </a:solidFill>
                <a:latin typeface="Segoe UI"/>
              </a:rPr>
              <a:t>…because one call was removed and all later code shifted.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3200400"/>
            <a:ext cx="2834640" cy="5029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 functions modified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3840480"/>
            <a:ext cx="2834640" cy="502920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6 symbols removed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4480560"/>
            <a:ext cx="2834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2606D"/>
                </a:solidFill>
                <a:latin typeface="Segoe UI"/>
              </a:rPr>
              <a:t>peripheralInit and main lost their watchdog calls; the IWDG driver was dropped by the linker.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Real edits vs side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Relocation-aware function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HIGHLIGHT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8</a:t>
            </a:r>
          </a:p>
        </p:txBody>
      </p:sp>
      <p:pic>
        <p:nvPicPr>
          <p:cNvPr id="10" name="Picture 9" descr="04_changed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36853"/>
            <a:ext cx="7680960" cy="4915814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8321040" y="1417320"/>
            <a:ext cx="352044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5087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52606D"/>
                </a:solidFill>
                <a:latin typeface="Segoe UI"/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82880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C02626"/>
                </a:solidFill>
                <a:latin typeface="Segoe UI"/>
              </a:rPr>
              <a:t>350 'modified'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5146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52606D"/>
                </a:solidFill>
                <a:latin typeface="Segoe UI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78892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5803D"/>
                </a:solidFill>
                <a:latin typeface="Segoe UI"/>
              </a:rPr>
              <a:t>2 modified · 6 removed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03320"/>
            <a:ext cx="3566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sz="1300">
                <a:solidFill>
                  <a:srgbClr val="1F2933"/>
                </a:solidFill>
                <a:latin typeface="Segoe UI"/>
              </a:rPr>
              <a:t>Calls (BL / JAL) and pointers are decoded in both builds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sz="1300">
                <a:solidFill>
                  <a:srgbClr val="1F2933"/>
                </a:solidFill>
                <a:latin typeface="Segoe UI"/>
              </a:rPr>
              <a:t>Same target symbol → RELOCATED, not an edit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sz="1300">
                <a:solidFill>
                  <a:srgbClr val="1F2933"/>
                </a:solidFill>
                <a:latin typeface="Segoe UI"/>
              </a:rPr>
              <a:t>762 side effects listed separately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sz="1300">
                <a:solidFill>
                  <a:srgbClr val="1F2933"/>
                </a:solidFill>
                <a:latin typeface="Segoe UI"/>
              </a:rPr>
              <a:t>ARM Thumb-2 and MIPS32 (PIC32)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Side effects stay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Relocated / moved symbols on their own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HIGHLIGHT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9</a:t>
            </a:r>
          </a:p>
        </p:txBody>
      </p:sp>
      <p:pic>
        <p:nvPicPr>
          <p:cNvPr id="10" name="Picture 9" descr="04b_reloc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234440"/>
            <a:ext cx="8001000" cy="5120640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006840" y="1463040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400">
                <a:solidFill>
                  <a:srgbClr val="1F2933"/>
                </a:solidFill>
                <a:latin typeface="Segoe UI"/>
              </a:rPr>
              <a:t>RELOCATED: </a:t>
            </a:r>
            <a:r>
              <a:rPr sz="1400">
                <a:solidFill>
                  <a:srgbClr val="1F2933"/>
                </a:solidFill>
                <a:latin typeface="Segoe UI"/>
              </a:rPr>
              <a:t>only call targets / pointers changed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400">
                <a:solidFill>
                  <a:srgbClr val="1F2933"/>
                </a:solidFill>
                <a:latin typeface="Segoe UI"/>
              </a:rPr>
              <a:t>MOVED: </a:t>
            </a:r>
            <a:r>
              <a:rPr sz="1400">
                <a:solidFill>
                  <a:srgbClr val="1F2933"/>
                </a:solidFill>
                <a:latin typeface="Segoe UI"/>
              </a:rPr>
              <a:t>identical code at a new address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400">
                <a:solidFill>
                  <a:srgbClr val="1F2933"/>
                </a:solidFill>
                <a:latin typeface="Segoe UI"/>
              </a:rPr>
              <a:t>LIKELY RELOCATED: </a:t>
            </a:r>
            <a:r>
              <a:rPr sz="1400">
                <a:solidFill>
                  <a:srgbClr val="1F2933"/>
                </a:solidFill>
                <a:latin typeface="Segoe UI"/>
              </a:rPr>
              <a:t>references to unnamed data — listed for review, never hidden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400">
                <a:solidFill>
                  <a:srgbClr val="1F2933"/>
                </a:solidFill>
                <a:latin typeface="Segoe UI"/>
              </a:rPr>
              <a:t>Module view </a:t>
            </a:r>
            <a:r>
              <a:rPr sz="1400">
                <a:solidFill>
                  <a:srgbClr val="1F2933"/>
                </a:solidFill>
                <a:latin typeface="Segoe UI"/>
              </a:rPr>
              <a:t>from linker map files (motor.o, uart.o …)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Hex comparison viewer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Synchronised, virtualised — scrolls MB-sized images instantly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10</a:t>
            </a:r>
          </a:p>
        </p:txBody>
      </p:sp>
      <p:pic>
        <p:nvPicPr>
          <p:cNvPr id="10" name="Picture 9" descr="05_hex_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60289"/>
            <a:ext cx="7863839" cy="4268941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pic>
        <p:nvPicPr>
          <p:cNvPr id="11" name="Picture 10" descr="05b_hex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583871"/>
            <a:ext cx="3429000" cy="1861457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458200" y="3886200"/>
            <a:ext cx="3474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sz="1300">
                <a:solidFill>
                  <a:srgbClr val="1F2933"/>
                </a:solidFill>
                <a:latin typeface="Segoe UI"/>
              </a:rPr>
              <a:t>First / prev / next / last difference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sz="1300">
                <a:solidFill>
                  <a:srgbClr val="1F2933"/>
                </a:solidFill>
                <a:latin typeface="Segoe UI"/>
              </a:rPr>
              <a:t>Go to address or file offset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sz="1300">
                <a:solidFill>
                  <a:srgbClr val="1F2933"/>
                </a:solidFill>
                <a:latin typeface="Segoe UI"/>
              </a:rPr>
              <a:t>Hex search in A, B or both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sz="1300">
                <a:solidFill>
                  <a:srgbClr val="1F2933"/>
                </a:solidFill>
                <a:latin typeface="Segoe UI"/>
              </a:rPr>
              <a:t>Filters: diffs only, region, block size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sz="1300">
                <a:solidFill>
                  <a:srgbClr val="1F2933"/>
                </a:solidFill>
                <a:latin typeface="Segoe UI"/>
              </a:rPr>
              <a:t>Status bar: offsets, region, block, function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Regions and expected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Version, timestamp and CRC are allowed to change — nothing else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11</a:t>
            </a:r>
          </a:p>
        </p:txBody>
      </p:sp>
      <p:pic>
        <p:nvPicPr>
          <p:cNvPr id="10" name="Picture 9" descr="06_summary_exp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31950"/>
            <a:ext cx="5669280" cy="3628339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pic>
        <p:nvPicPr>
          <p:cNvPr id="11" name="Picture 10" descr="07_reg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75842"/>
            <a:ext cx="5532120" cy="3540556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11480" y="5349240"/>
            <a:ext cx="5669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2606D"/>
                </a:solidFill>
                <a:latin typeface="Segoe UI"/>
              </a:rPr>
              <a:t>Summary: 22 expected bytes (version, timestamp, git hash, CRC) are separated from 14,179 unexpected 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349240"/>
            <a:ext cx="55321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2606D"/>
                </a:solidFill>
                <a:latin typeface="Segoe UI"/>
              </a:rPr>
              <a:t>Regions: Bootloader and Calibration show EXPECTED CHANGE only; Application and Diagnostics really changed.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Changed blocks and memory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Where the changes are — as a table and as a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12</a:t>
            </a:r>
          </a:p>
        </p:txBody>
      </p:sp>
      <p:pic>
        <p:nvPicPr>
          <p:cNvPr id="10" name="Picture 9" descr="08_changed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46581"/>
            <a:ext cx="5623560" cy="3599078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pic>
        <p:nvPicPr>
          <p:cNvPr id="11" name="Picture 10" descr="09_memory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46581"/>
            <a:ext cx="5623560" cy="3599078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11480" y="5349240"/>
            <a:ext cx="56235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2606D"/>
                </a:solidFill>
                <a:latin typeface="Segoe UI"/>
              </a:rPr>
              <a:t>Every block with size, class, region, file offsets and the function it falls in; sortable and filterable.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5349240"/>
            <a:ext cx="56235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2606D"/>
                </a:solidFill>
                <a:latin typeface="Segoe UI"/>
              </a:rPr>
              <a:t>Memory map: red = unexpected, amber = expected only. Click any cell to open the hex viewer there.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Reusable project files: regions, expected areas,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13</a:t>
            </a:r>
          </a:p>
        </p:txBody>
      </p:sp>
      <p:pic>
        <p:nvPicPr>
          <p:cNvPr id="10" name="Picture 9" descr="10_config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234440"/>
            <a:ext cx="8001000" cy="5120640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006840" y="1463040"/>
            <a:ext cx="3017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sz="1400">
                <a:solidFill>
                  <a:srgbClr val="1F2933"/>
                </a:solidFill>
                <a:latin typeface="Segoe UI"/>
              </a:rPr>
              <a:t>Add / edit / remove / reorder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sz="1400">
                <a:solidFill>
                  <a:srgbClr val="1F2933"/>
                </a:solidFill>
                <a:latin typeface="Segoe UI"/>
              </a:rPr>
              <a:t>End address or +size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sz="1400">
                <a:solidFill>
                  <a:srgbClr val="1F2933"/>
                </a:solidFill>
                <a:latin typeface="Segoe UI"/>
              </a:rPr>
              <a:t>Validation: ranges, duplicates, overlaps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sz="1400">
                <a:solidFill>
                  <a:srgbClr val="1F2933"/>
                </a:solidFill>
                <a:latin typeface="Segoe UI"/>
              </a:rPr>
              <a:t>Gap fill for sparse HEX vs full BIN (opt-in)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sz="1400">
                <a:solidFill>
                  <a:srgbClr val="1F2933"/>
                </a:solidFill>
                <a:latin typeface="Segoe UI"/>
              </a:rPr>
              <a:t>Saved as JSON, used by GUI and CLI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Controller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Exact part from symbols, family from the image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HIGHLIGHT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14</a:t>
            </a:r>
          </a:p>
        </p:txBody>
      </p:sp>
      <p:pic>
        <p:nvPicPr>
          <p:cNvPr id="10" name="Picture 9" descr="14_controller_pic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78331"/>
            <a:ext cx="7863840" cy="5032857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458200" y="1463040"/>
            <a:ext cx="3520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400">
                <a:solidFill>
                  <a:srgbClr val="1F2933"/>
                </a:solidFill>
                <a:latin typeface="Segoe UI"/>
              </a:rPr>
              <a:t>PIC32MX575F512L </a:t>
            </a:r>
            <a:r>
              <a:rPr sz="1400">
                <a:solidFill>
                  <a:srgbClr val="1F2933"/>
                </a:solidFill>
                <a:latin typeface="Segoe UI"/>
              </a:rPr>
              <a:t>from the XC32 map — 512 KB flash, 100 pins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400">
                <a:solidFill>
                  <a:srgbClr val="1F2933"/>
                </a:solidFill>
                <a:latin typeface="Segoe UI"/>
              </a:rPr>
              <a:t>STM32F411RET </a:t>
            </a:r>
            <a:r>
              <a:rPr sz="1400">
                <a:solidFill>
                  <a:srgbClr val="1F2933"/>
                </a:solidFill>
                <a:latin typeface="Segoe UI"/>
              </a:rPr>
              <a:t>from ELF debug info — Cortex-M4F, 512 KB, LQFP64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400">
                <a:solidFill>
                  <a:srgbClr val="1F2933"/>
                </a:solidFill>
                <a:latin typeface="Segoe UI"/>
              </a:rPr>
              <a:t>HEX / BIN only: </a:t>
            </a:r>
            <a:r>
              <a:rPr sz="1400">
                <a:solidFill>
                  <a:srgbClr val="1F2933"/>
                </a:solidFill>
                <a:latin typeface="Segoe UI"/>
              </a:rPr>
              <a:t>family from flash layout, config words, vector table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400">
                <a:solidFill>
                  <a:srgbClr val="1F2933"/>
                </a:solidFill>
                <a:latin typeface="Segoe UI"/>
              </a:rPr>
              <a:t>Warning </a:t>
            </a:r>
            <a:r>
              <a:rPr sz="1400">
                <a:solidFill>
                  <a:srgbClr val="1F2933"/>
                </a:solidFill>
                <a:latin typeface="Segoe UI"/>
              </a:rPr>
              <a:t>if A and B target different controllers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Metadata · Checksums · 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Supporting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15</a:t>
            </a:r>
          </a:p>
        </p:txBody>
      </p:sp>
      <p:pic>
        <p:nvPicPr>
          <p:cNvPr id="10" name="Picture 9" descr="11_meta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06778"/>
            <a:ext cx="3703320" cy="2370124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" y="5394960"/>
            <a:ext cx="37033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2606D"/>
                </a:solidFill>
                <a:latin typeface="Segoe UI"/>
              </a:rPr>
              <a:t>Heuristic metadata: version, build date/time, git, product, board</a:t>
            </a:r>
          </a:p>
        </p:txBody>
      </p:sp>
      <p:pic>
        <p:nvPicPr>
          <p:cNvPr id="12" name="Picture 11" descr="12_checksu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106778"/>
            <a:ext cx="3703320" cy="2370124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297680" y="5394960"/>
            <a:ext cx="37033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2606D"/>
                </a:solidFill>
                <a:latin typeface="Segoe UI"/>
              </a:rPr>
              <a:t>CRC-32 / CRC-16 / SHA-256 over file, image, region or range</a:t>
            </a:r>
          </a:p>
        </p:txBody>
      </p:sp>
      <p:pic>
        <p:nvPicPr>
          <p:cNvPr id="14" name="Picture 13" descr="13_el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106778"/>
            <a:ext cx="3703320" cy="2370124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8183880" y="5394960"/>
            <a:ext cx="37033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2606D"/>
                </a:solidFill>
                <a:latin typeface="Segoe UI"/>
              </a:rPr>
              <a:t>ELF sections, build info and symbol changes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Command line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Same engine, scriptable — exit codes gate a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16</a:t>
            </a:r>
          </a:p>
        </p:txBody>
      </p:sp>
      <p:pic>
        <p:nvPicPr>
          <p:cNvPr id="10" name="Picture 9" descr="16_c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711" y="1234440"/>
            <a:ext cx="5204738" cy="51206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01000" y="1417320"/>
            <a:ext cx="3840480" cy="214884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0876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1F2933"/>
                </a:solidFill>
                <a:latin typeface="Segoe UI"/>
              </a:rPr>
              <a:t>Exit codes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9202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300">
                <a:solidFill>
                  <a:srgbClr val="1F2933"/>
                </a:solidFill>
                <a:latin typeface="Segoe UI"/>
              </a:rPr>
              <a:t>0 </a:t>
            </a:r>
            <a:r>
              <a:rPr sz="1300">
                <a:solidFill>
                  <a:srgbClr val="1F2933"/>
                </a:solidFill>
                <a:latin typeface="Segoe UI"/>
              </a:rPr>
              <a:t>identical or expected changes only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300">
                <a:solidFill>
                  <a:srgbClr val="1F2933"/>
                </a:solidFill>
                <a:latin typeface="Segoe UI"/>
              </a:rPr>
              <a:t>1 </a:t>
            </a:r>
            <a:r>
              <a:rPr sz="1300">
                <a:solidFill>
                  <a:srgbClr val="1F2933"/>
                </a:solidFill>
                <a:latin typeface="Segoe UI"/>
              </a:rPr>
              <a:t>unexpected changes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300">
                <a:solidFill>
                  <a:srgbClr val="1F2933"/>
                </a:solidFill>
                <a:latin typeface="Segoe UI"/>
              </a:rPr>
              <a:t>2 </a:t>
            </a:r>
            <a:r>
              <a:rPr sz="1300">
                <a:solidFill>
                  <a:srgbClr val="1F2933"/>
                </a:solidFill>
                <a:latin typeface="Segoe UI"/>
              </a:rPr>
              <a:t>error (missing / malformed file, bad config)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79476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sz="1300">
                <a:solidFill>
                  <a:srgbClr val="1F2933"/>
                </a:solidFill>
                <a:latin typeface="Segoe UI"/>
              </a:rPr>
              <a:t>--report / --csv / --json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sz="1300">
                <a:solidFill>
                  <a:srgbClr val="1F2933"/>
                </a:solidFill>
                <a:latin typeface="Segoe UI"/>
              </a:rPr>
              <a:t>--symbols-a / --symbols-b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sz="1300">
                <a:solidFill>
                  <a:srgbClr val="1F2933"/>
                </a:solidFill>
                <a:latin typeface="Segoe UI"/>
              </a:rPr>
              <a:t>--regions / --ignore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563EB"/>
                </a:solidFill>
                <a:latin typeface="Segoe UI"/>
              </a:rPr>
              <a:t>▪  </a:t>
            </a:r>
            <a:r>
              <a:rPr sz="1300">
                <a:solidFill>
                  <a:srgbClr val="1F2933"/>
                </a:solidFill>
                <a:latin typeface="Segoe UI"/>
              </a:rPr>
              <a:t>--fill, --merge-gap, --checksum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HTML engineering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Self-contained, printable, shareable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17</a:t>
            </a:r>
          </a:p>
        </p:txBody>
      </p:sp>
      <p:pic>
        <p:nvPicPr>
          <p:cNvPr id="10" name="Picture 9" descr="17b_html_report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" y="1234440"/>
            <a:ext cx="4267200" cy="5120640"/>
          </a:xfrm>
          <a:prstGeom prst="rect">
            <a:avLst/>
          </a:prstGeom>
          <a:ln w="9525">
            <a:solidFill>
              <a:srgbClr val="C3CCD6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172200" y="14630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563EB"/>
                </a:solidFill>
                <a:latin typeface="Segoe UI"/>
              </a:rPr>
              <a:t>▪  </a:t>
            </a:r>
            <a:r>
              <a:rPr sz="1500">
                <a:solidFill>
                  <a:srgbClr val="1F2933"/>
                </a:solidFill>
                <a:latin typeface="Segoe UI"/>
              </a:rPr>
              <a:t>Firmware A / B information incl. controller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563EB"/>
                </a:solidFill>
                <a:latin typeface="Segoe UI"/>
              </a:rPr>
              <a:t>▪  </a:t>
            </a:r>
            <a:r>
              <a:rPr sz="1500">
                <a:solidFill>
                  <a:srgbClr val="1F2933"/>
                </a:solidFill>
                <a:latin typeface="Segoe UI"/>
              </a:rPr>
              <a:t>SHA-256 hashes, overall summary, memory map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563EB"/>
                </a:solidFill>
                <a:latin typeface="Segoe UI"/>
              </a:rPr>
              <a:t>▪  </a:t>
            </a:r>
            <a:r>
              <a:rPr sz="1500">
                <a:solidFill>
                  <a:srgbClr val="1F2933"/>
                </a:solidFill>
                <a:latin typeface="Segoe UI"/>
              </a:rPr>
              <a:t>Region comparison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563EB"/>
                </a:solidFill>
                <a:latin typeface="Segoe UI"/>
              </a:rPr>
              <a:t>▪  </a:t>
            </a:r>
            <a:r>
              <a:rPr sz="1500">
                <a:solidFill>
                  <a:srgbClr val="1F2933"/>
                </a:solidFill>
                <a:latin typeface="Segoe UI"/>
              </a:rPr>
              <a:t>Changed blocks with function names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563EB"/>
                </a:solidFill>
                <a:latin typeface="Segoe UI"/>
              </a:rPr>
              <a:t>▪  </a:t>
            </a:r>
            <a:r>
              <a:rPr sz="1500">
                <a:solidFill>
                  <a:srgbClr val="1F2933"/>
                </a:solidFill>
                <a:latin typeface="Segoe UI"/>
              </a:rPr>
              <a:t>Expected and unexpected changes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563EB"/>
                </a:solidFill>
                <a:latin typeface="Segoe UI"/>
              </a:rPr>
              <a:t>▪  </a:t>
            </a:r>
            <a:r>
              <a:rPr sz="1500">
                <a:solidFill>
                  <a:srgbClr val="1F2933"/>
                </a:solidFill>
                <a:latin typeface="Segoe UI"/>
              </a:rPr>
              <a:t>Function and module changes, side effects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563EB"/>
                </a:solidFill>
                <a:latin typeface="Segoe UI"/>
              </a:rPr>
              <a:t>▪  </a:t>
            </a:r>
            <a:r>
              <a:rPr sz="1500">
                <a:solidFill>
                  <a:srgbClr val="1F2933"/>
                </a:solidFill>
                <a:latin typeface="Segoe UI"/>
              </a:rPr>
              <a:t>Metadata differences, ELF comparison, timestamp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563EB"/>
                </a:solidFill>
                <a:latin typeface="Segoe UI"/>
              </a:rPr>
              <a:t>▪  </a:t>
            </a:r>
            <a:r>
              <a:rPr sz="1500">
                <a:solidFill>
                  <a:srgbClr val="1F2933"/>
                </a:solidFill>
                <a:latin typeface="Segoe UI"/>
              </a:rPr>
              <a:t>CSV exports for blocks and functions; JSON summary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Quality and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Verified on synthetic and production firmware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269748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2697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000" b="1">
                <a:solidFill>
                  <a:srgbClr val="15803D"/>
                </a:solidFill>
                <a:latin typeface="Segoe UI"/>
              </a:rPr>
              <a:t>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8600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2606D"/>
                </a:solidFill>
                <a:latin typeface="Segoe UI"/>
              </a:rPr>
              <a:t>automated 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1371600"/>
            <a:ext cx="269748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463040"/>
            <a:ext cx="2697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000" b="1">
                <a:solidFill>
                  <a:srgbClr val="2563EB"/>
                </a:solidFill>
                <a:latin typeface="Segoe UI"/>
              </a:rPr>
              <a:t>0.1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28600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2606D"/>
                </a:solidFill>
                <a:latin typeface="Segoe UI"/>
              </a:rPr>
              <a:t>64 MB comparison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1371600"/>
            <a:ext cx="269748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1463040"/>
            <a:ext cx="2697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000" b="1">
                <a:solidFill>
                  <a:srgbClr val="7C3AED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228600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2606D"/>
                </a:solidFill>
                <a:latin typeface="Segoe UI"/>
              </a:rPr>
              <a:t>production firmware families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1704" y="1371600"/>
            <a:ext cx="269748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1704" y="1463040"/>
            <a:ext cx="2697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000" b="1">
                <a:solidFill>
                  <a:srgbClr val="1E293B"/>
                </a:solidFill>
                <a:latin typeface="Segoe U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1704" y="228600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52606D"/>
                </a:solidFill>
                <a:latin typeface="Segoe UI"/>
              </a:rPr>
              <a:t>runtime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0040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600">
                <a:solidFill>
                  <a:srgbClr val="1F2933"/>
                </a:solidFill>
                <a:latin typeface="Segoe UI"/>
              </a:rPr>
              <a:t>Engine: </a:t>
            </a:r>
            <a:r>
              <a:rPr sz="1600">
                <a:solidFill>
                  <a:srgbClr val="1F2933"/>
                </a:solidFill>
                <a:latin typeface="Segoe UI"/>
              </a:rPr>
              <a:t>randomised tests against a naive byte-by-byte reference; interval algebra against Python sets.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600">
                <a:solidFill>
                  <a:srgbClr val="1F2933"/>
                </a:solidFill>
                <a:latin typeface="Segoe UI"/>
              </a:rPr>
              <a:t>Formats: </a:t>
            </a:r>
            <a:r>
              <a:rPr sz="1600">
                <a:solidFill>
                  <a:srgbClr val="1F2933"/>
                </a:solidFill>
                <a:latin typeface="Segoe UI"/>
              </a:rPr>
              <a:t>malformed / truncated HEX and ELF, overlapping records, files verified unmodified.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600">
                <a:solidFill>
                  <a:srgbClr val="1F2933"/>
                </a:solidFill>
                <a:latin typeface="Segoe UI"/>
              </a:rPr>
              <a:t>Functions: </a:t>
            </a:r>
            <a:r>
              <a:rPr sz="1600">
                <a:solidFill>
                  <a:srgbClr val="1F2933"/>
                </a:solidFill>
                <a:latin typeface="Segoe UI"/>
              </a:rPr>
              <a:t>real Thumb-2 and MIPS32 machine code, aliases, linker labels, renamed compiler symbols.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600">
                <a:solidFill>
                  <a:srgbClr val="1F2933"/>
                </a:solidFill>
                <a:latin typeface="Segoe UI"/>
              </a:rPr>
              <a:t>Production: </a:t>
            </a:r>
            <a:r>
              <a:rPr sz="1600">
                <a:solidFill>
                  <a:srgbClr val="1F2933"/>
                </a:solidFill>
                <a:latin typeface="Segoe UI"/>
              </a:rPr>
              <a:t>STM32F411 watchdog change → exactly 2 modified + 6 removed; PIC32MX575 release diff.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600">
                <a:solidFill>
                  <a:srgbClr val="1F2933"/>
                </a:solidFill>
                <a:latin typeface="Segoe UI"/>
              </a:rPr>
              <a:t>GUI: </a:t>
            </a:r>
            <a:r>
              <a:rPr sz="1600">
                <a:solidFill>
                  <a:srgbClr val="1F2933"/>
                </a:solidFill>
                <a:latin typeface="Segoe UI"/>
              </a:rPr>
              <a:t>smoke test drives the real window — load, compare, tabs, hex navigation, filters, search.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Limitations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Segoe UI"/>
              </a:rPr>
              <a:t>v1.0.0 is frozen — candidates for the next 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20116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>
                <a:solidFill>
                  <a:srgbClr val="93C5FD"/>
                </a:solidFill>
                <a:latin typeface="Segoe UI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2606D"/>
                </a:solidFill>
                <a:latin typeface="Segoe UI"/>
              </a:rPr>
              <a:t>Firmware Binary Comparison Tool  ·  v1.0.0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2606D"/>
                </a:solidFill>
                <a:latin typeface="Segoe U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600">
                <a:solidFill>
                  <a:srgbClr val="1F2933"/>
                </a:solidFill>
                <a:latin typeface="Segoe UI"/>
              </a:rPr>
              <a:t>Heuristics: </a:t>
            </a:r>
            <a:r>
              <a:rPr sz="1600">
                <a:solidFill>
                  <a:srgbClr val="1F2933"/>
                </a:solidFill>
                <a:latin typeface="Segoe UI"/>
              </a:rPr>
              <a:t>metadata and controller identification are best-effort, with evidence shown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600">
                <a:solidFill>
                  <a:srgbClr val="1F2933"/>
                </a:solidFill>
                <a:latin typeface="Segoe UI"/>
              </a:rPr>
              <a:t>Decoding: </a:t>
            </a:r>
            <a:r>
              <a:rPr sz="1600">
                <a:solidFill>
                  <a:srgbClr val="1F2933"/>
                </a:solidFill>
                <a:latin typeface="Segoe UI"/>
              </a:rPr>
              <a:t>MOVW/MOVT, microMIPS / MIPS16e and RISC-V not decoded yet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600">
                <a:solidFill>
                  <a:srgbClr val="1F2933"/>
                </a:solidFill>
                <a:latin typeface="Segoe UI"/>
              </a:rPr>
              <a:t>Maps: </a:t>
            </a:r>
            <a:r>
              <a:rPr sz="1600">
                <a:solidFill>
                  <a:srgbClr val="1F2933"/>
                </a:solidFill>
                <a:latin typeface="Segoe UI"/>
              </a:rPr>
              <a:t>GNU ld and XC32 only (IAR / Keil: use their ELF)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600">
                <a:solidFill>
                  <a:srgbClr val="1F2933"/>
                </a:solidFill>
                <a:latin typeface="Segoe UI"/>
              </a:rPr>
              <a:t>Formats: </a:t>
            </a:r>
            <a:r>
              <a:rPr sz="1600">
                <a:solidFill>
                  <a:srgbClr val="1F2933"/>
                </a:solidFill>
                <a:latin typeface="Segoe UI"/>
              </a:rPr>
              <a:t>no Motorola S-record yet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563EB"/>
                </a:solidFill>
                <a:latin typeface="Segoe UI"/>
              </a:rPr>
              <a:t>▪  </a:t>
            </a:r>
            <a:r>
              <a:rPr b="1" sz="1600">
                <a:solidFill>
                  <a:srgbClr val="1F2933"/>
                </a:solidFill>
                <a:latin typeface="Segoe UI"/>
              </a:rPr>
              <a:t>Same-size MODIFIED </a:t>
            </a:r>
            <a:r>
              <a:rPr sz="1600">
                <a:solidFill>
                  <a:srgbClr val="1F2933"/>
                </a:solidFill>
                <a:latin typeface="Segoe UI"/>
              </a:rPr>
              <a:t>can be a side effect of header / struct changes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544068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Segoe UI"/>
              </a:rPr>
              <a:t>Possible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563EB"/>
                </a:solidFill>
                <a:latin typeface="Segoe UI"/>
              </a:rPr>
              <a:t>▪  </a:t>
            </a:r>
            <a:r>
              <a:rPr sz="1500">
                <a:solidFill>
                  <a:srgbClr val="1F2933"/>
                </a:solidFill>
                <a:latin typeface="Segoe UI"/>
              </a:rPr>
              <a:t>S-record and IAR / Keil map support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563EB"/>
                </a:solidFill>
                <a:latin typeface="Segoe UI"/>
              </a:rPr>
              <a:t>▪  </a:t>
            </a:r>
            <a:r>
              <a:rPr sz="1500">
                <a:solidFill>
                  <a:srgbClr val="1F2933"/>
                </a:solidFill>
                <a:latin typeface="Segoe UI"/>
              </a:rPr>
              <a:t>RISC-V and MOVW/MOVT reference decoding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563EB"/>
                </a:solidFill>
                <a:latin typeface="Segoe UI"/>
              </a:rPr>
              <a:t>▪  </a:t>
            </a:r>
            <a:r>
              <a:rPr sz="1500">
                <a:solidFill>
                  <a:srgbClr val="1F2933"/>
                </a:solidFill>
                <a:latin typeface="Segoe UI"/>
              </a:rPr>
              <a:t>Batch / folder comparison of release sets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563EB"/>
                </a:solidFill>
                <a:latin typeface="Segoe UI"/>
              </a:rPr>
              <a:t>▪  </a:t>
            </a:r>
            <a:r>
              <a:rPr sz="1500">
                <a:solidFill>
                  <a:srgbClr val="1F2933"/>
                </a:solidFill>
                <a:latin typeface="Segoe UI"/>
              </a:rPr>
              <a:t>Git integration: compare two tags directly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563EB"/>
                </a:solidFill>
                <a:latin typeface="Segoe UI"/>
              </a:rPr>
              <a:t>▪  </a:t>
            </a:r>
            <a:r>
              <a:rPr sz="1500">
                <a:solidFill>
                  <a:srgbClr val="1F2933"/>
                </a:solidFill>
                <a:latin typeface="Segoe UI"/>
              </a:rPr>
              <a:t>Packaged installer (PyInstaller scripts ready)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Segoe UI"/>
              </a:rPr>
              <a:t>Byte-exact comparison · regions &amp; expectations · real edits vs side effects · controller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  <a:latin typeface="Segoe UI"/>
              </a:rPr>
              <a:t>Run:  python firmware_compare_gui.py   ·   python firmware_diff.py old.bin new.bin --report r.html</a:t>
            </a:r>
          </a:p>
          <a:p>
            <a:pPr algn="l"/>
            <a:r>
              <a:rPr sz="1400" b="0">
                <a:solidFill>
                  <a:srgbClr val="93C5FD"/>
                </a:solidFill>
                <a:latin typeface="Segoe UI"/>
              </a:rPr>
              <a:t>Docs:  docs/Firmware_Binary_Comparison_Tool_Design_v1.0.docx   ·   README.md   ·   docs/FREEZE_v1.0.0.md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