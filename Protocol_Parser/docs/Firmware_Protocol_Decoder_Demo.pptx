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s):</a:t>
            </a:r>
          </a:p>
          <a:p>
            <a:r>
              <a:t>- Personal debugging tool built for firmware work: UART, USB-CDC, RS485, CAN payloads, Modbus and custom binary frames.</a:t>
            </a:r>
          </a:p>
          <a:p>
            <a:r>
              <a:t>- Key message: describe a protocol once as data, then every packet decodes deterministically - offline, no AI needed.</a:t>
            </a:r>
          </a:p>
          <a:p>
            <a:r>
              <a:t>- Demo follows the same flow as these slides; the app is already open with the reference packet preloaded.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(45 s):</a:t>
            </a:r>
          </a:p>
          <a:p>
            <a:r>
              <a:t>- Ask the audience: who has counted HEX offsets on paper or recomputed a CRC in an online calculator this month?</a:t>
            </a:r>
          </a:p>
          <a:p>
            <a:r>
              <a:t>- Each pain point maps to a feature we'll see: layout engine, endian-aware types, CRC engine, diff analyzer.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it does (45 s): walk the six tiles left-to-right, top-to-bottom; each one is a demo later.</a:t>
            </a:r>
          </a:p>
          <a:p>
            <a:r>
              <a:t>Stress the bottom line: single dependency (PySide6), runs offline, 131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(60 s):</a:t>
            </a:r>
          </a:p>
          <a:p>
            <a:r>
              <a:t>- Core is pure Python with no Qt imports: scriptable and testable headless.</a:t>
            </a:r>
          </a:p>
          <a:p>
            <a:r>
              <a:t>- GUI only composes core functions. AI and transport sit beside the GUI and only consume the core's result.</a:t>
            </a:r>
          </a:p>
          <a:p>
            <a:r>
              <a:t>- Rule: dependencies point downwards; the decoder works with no AI and no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once (60 s):</a:t>
            </a:r>
          </a:p>
          <a:p>
            <a:r>
              <a:t>- Show the JSON: Length is a 16-bit LE field; Payload length comes from it (length_from); CRC follows automatically; ETX is anchored at the end.</a:t>
            </a:r>
          </a:p>
          <a:p>
            <a:r>
              <a:t>- Switch to the app: Protocol -&gt; Edit. Show the field table, open the CRC field (algorithm, range Address..Payload), then the JSON tab.</a:t>
            </a:r>
          </a:p>
          <a:p>
            <a:r>
              <a:t>- Validation runs live (green 'Definition is valid').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1 - Decode (90 s):</a:t>
            </a:r>
          </a:p>
          <a:p>
            <a:r>
              <a:t>1. App open, Dextens selected, packet 02 01 08 00 67 65 74 20 64 69 61 67 DD 1F 03 preloaded.</a:t>
            </a:r>
          </a:p>
          <a:p>
            <a:r>
              <a:t>2. Press Ctrl+Enter. Point at the layout strip, then the table: same colours.</a:t>
            </a:r>
          </a:p>
          <a:p>
            <a:r>
              <a:t>3. Click 'Payload' in the layout: row selects, bytes highlight in HEX/ASCII tab.</a:t>
            </a:r>
          </a:p>
          <a:p>
            <a:r>
              <a:t>4. Checks tab: CRC received DD 1F, calculated DD 1F, VALID.</a:t>
            </a:r>
          </a:p>
          <a:p>
            <a:r>
              <a:t>5. Status bar: green 'Packet valid'.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 map (45 s):</a:t>
            </a:r>
          </a:p>
          <a:p>
            <a:r>
              <a:t>- The spec table assumed a 1-byte length; the packet only fits a 2-byte LE length (08 00).</a:t>
            </a:r>
          </a:p>
          <a:p>
            <a:r>
              <a:t>- The CRC variant was not guessed: the built-in CRC placement search tried all presets/ranges/byte orders - exactly one 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2 - Malformed packets (60 s):</a:t>
            </a:r>
          </a:p>
          <a:p>
            <a:r>
              <a:t>1. Examples -&gt; 'TX: corrupted CRC': status CRC ERROR, payload still decoded, calculated vs received shown.</a:t>
            </a:r>
          </a:p>
          <a:p>
            <a:r>
              <a:t>2. Examples -&gt; 'TX: length field too large': Length = 32 exceeds packet; truncated fields marked red; messages explain.</a:t>
            </a:r>
          </a:p>
          <a:p>
            <a:r>
              <a:t>3. Type garbage (e.g. '02 0G'): 'Invalid HEX data ... line 1, column 4'. Nothing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3 - Rich types (60 s):</a:t>
            </a:r>
          </a:p>
          <a:p>
            <a:r>
              <a:t>1. Select 'Simple Sensor Packet', Examples -&gt; Reading 1.</a:t>
            </a:r>
          </a:p>
          <a:p>
            <a:r>
              <a:t>2. Temperature int16 x 0.1 = 23.5 C; Humidity 45 %RH; raw value in Interpretation.</a:t>
            </a:r>
          </a:p>
          <a:p>
            <a:r>
              <a:t>3. Status 0xA5 expands into bit rows: Fault=1, Warning=0, Ready=1, Mode (2 bits)=Idle, Sensor active, Comm OK.</a:t>
            </a:r>
          </a:p>
          <a:p>
            <a:r>
              <a:t>4. Checksum: SUM-8 VALID.</a:t>
            </a:r>
          </a:p>
          <a:p>
            <a:r>
              <a:t>Optional: Modbus RTU example shows function-code names incl.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4 - TX/RX (45 s):</a:t>
            </a:r>
          </a:p>
          <a:p>
            <a:r>
              <a:t>1. Open TX/RX Analyzer tab (Alt+2). TX 'get diag' and RX 'diag:OK' are prefilled.</a:t>
            </a:r>
          </a:p>
          <a:p>
            <a:r>
              <a:t>2. Decode &amp; Compare: Command vs Response summary, both CRCs valid.</a:t>
            </a:r>
          </a:p>
          <a:p>
            <a:r>
              <a:t>3. Field comparison highlights Length, Payload, CRC; byte view highlights differing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5 - Reverse engineering (75 s):</a:t>
            </a:r>
          </a:p>
          <a:p>
            <a:r>
              <a:t>1. Packet Diff Analyzer tab (Alt+3): three sensor readings are prefilled; Analyze.</a:t>
            </a:r>
          </a:p>
          <a:p>
            <a:r>
              <a:t>2. Offset 5 incrementing -&gt; 'Possible interpretation: counter / sequence / measurement'.</a:t>
            </a:r>
          </a:p>
          <a:p>
            <a:r>
              <a:t>3. Last byte: verified 'sum8 over offsets 0-8' in ALL packets - a computed fact, not a guess.</a:t>
            </a:r>
          </a:p>
          <a:p>
            <a:r>
              <a:t>4. Point out wording: inferred meanings are always labelled 'Possible interpretation'.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6 - Build &amp; CRC tools (60 s):</a:t>
            </a:r>
          </a:p>
          <a:p>
            <a:r>
              <a:t>1. Ctrl+B: Build Packet. Change Payload to 'get ver' - Length and CRC update live. Use Packet -&gt; decodes VALID.</a:t>
            </a:r>
          </a:p>
          <a:p>
            <a:r>
              <a:t>2. Ctrl+K: CRC calculator. Shows every preset over the data; 'Search CRC placement' finds CRC-16/MODBUS 1-11 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- optional and honest (60 s):</a:t>
            </a:r>
          </a:p>
          <a:p>
            <a:r>
              <a:t>1. Back to Decoder, click 'Analyze Packet with AI'.</a:t>
            </a:r>
          </a:p>
          <a:p>
            <a:r>
              <a:t>2. Default backend is an offline heuristic (no provider configured) - stated in the report header.</a:t>
            </a:r>
          </a:p>
          <a:p>
            <a:r>
              <a:t>3. Decoded facts are copied from the decoder; inferences are in a separate, labelled section.</a:t>
            </a:r>
          </a:p>
          <a:p>
            <a:r>
              <a:t>4. Adding an LLM = subclass AIAnalyzer + build_prompt(); no change to the decoder.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(45 s):</a:t>
            </a:r>
          </a:p>
          <a:p>
            <a:r>
              <a:t>- 131 tests across HEX parsing, types, CRC, decoder, model, analysis and GUI (headless).</a:t>
            </a:r>
          </a:p>
          <a:p>
            <a:r>
              <a:t>- All 16 CRC presets checked against the standard '123456789' check values.</a:t>
            </a:r>
          </a:p>
          <a:p>
            <a:r>
              <a:t>- Reference packet is decoded and encoded byte-for-byte in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(30 s): the architecture already has the seams for each item; the encoder tab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(30 s): show the three commands; mention README + design document in docs/.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FA3F7"/>
                </a:solidFill>
                <a:latin typeface="Segoe UI"/>
              </a:rPr>
              <a:t>DEMO  ·  ENGINEERING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E6E8EC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9AA3B2"/>
                </a:solidFill>
                <a:latin typeface="Segoe UI"/>
              </a:rPr>
              <a:t>Decode, verify and reverse-engineer embedded packets —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UART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USB-CDC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5616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RS485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48272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Modbus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2900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15875">
            <a:solidFill>
              <a:srgbClr val="4FA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50" b="1">
                <a:solidFill>
                  <a:srgbClr val="4FA3F7"/>
                </a:solidFill>
                <a:latin typeface="Segoe UI"/>
              </a:rPr>
              <a:t>Custom binary</a:t>
            </a:r>
          </a:p>
        </p:txBody>
      </p:sp>
      <p:pic>
        <p:nvPicPr>
          <p:cNvPr id="12" name="Picture 11" descr="diagram_packet_ma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39"/>
            <a:ext cx="8246225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Vinaya Kumar  ·  October 2026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Decoding bytes by hand is slow and error-prone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64008" cy="27432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764792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Counting offsets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219456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9AA3B2"/>
                </a:solidFill>
                <a:latin typeface="Segoe UI"/>
              </a:rPr>
              <a:t>Copy HEX from a terminal, count bytes, find where the payload starts — every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002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64008" cy="27432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49039" y="1764792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Endianness &amp;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21992"/>
            <a:ext cx="219456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9AA3B2"/>
                </a:solidFill>
                <a:latin typeface="Segoe UI"/>
              </a:rPr>
              <a:t>Is 34 12 = 4660 or 13330? Signed? Scaled ×0.1? Easy to get wrong under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64008" cy="2743200"/>
          </a:xfrm>
          <a:prstGeom prst="rect">
            <a:avLst/>
          </a:prstGeom>
          <a:solidFill>
            <a:srgbClr val="A37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Re-computing CRCs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21992"/>
            <a:ext cx="219456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9AA3B2"/>
                </a:solidFill>
                <a:latin typeface="Segoe UI"/>
              </a:rPr>
              <a:t>Which CRC-16? Which init, which bytes, which byte order? Trial and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64008" cy="274320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35440" y="1764792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Unknown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21992"/>
            <a:ext cx="219456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9AA3B2"/>
                </a:solidFill>
                <a:latin typeface="Segoe UI"/>
              </a:rPr>
              <a:t>Legacy devices with no spec: which byte is the counter, which is the checksum?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10744200" cy="11430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51560" y="4846320"/>
            <a:ext cx="10241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4FA3F7"/>
                </a:solidFill>
                <a:latin typeface="Segoe UI"/>
              </a:rPr>
              <a:t>Idea:  </a:t>
            </a:r>
            <a:r>
              <a:rPr sz="1900" b="0">
                <a:solidFill>
                  <a:srgbClr val="E6E8EC"/>
                </a:solidFill>
                <a:latin typeface="Segoe UI"/>
              </a:rPr>
              <a:t>describe the protocol once as data (JSON). The tool does the counting, converting and checking — and never guesses what it doesn't know.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One tool for the whole packet-debugging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64008" cy="178308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Field table, packet layout and HEX/ASCII view — all colour-linked.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17830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16 CRC presets + custom parameters, 6 checksums, STX/ETX and length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64008" cy="1783080"/>
          </a:xfrm>
          <a:prstGeom prst="rect">
            <a:avLst/>
          </a:prstGeom>
          <a:solidFill>
            <a:srgbClr val="A37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Define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Protocol editor or JSON: dynamic lengths, bit fields, value names, scaling.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3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" y="3520439"/>
            <a:ext cx="64008" cy="17830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368503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42231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TX/RX Analyzer: request vs response, field and byte differences.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2043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89120" y="3520439"/>
            <a:ext cx="64008" cy="17830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17720" y="368503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Reverse-engineer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42231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Diff Analyzer: counters, patterns and verified CRC placement.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2043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01000" y="3520439"/>
            <a:ext cx="64008" cy="178308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0" y="368503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6E8EC"/>
                </a:solidFill>
                <a:latin typeface="Segoe UI"/>
              </a:rPr>
              <a:t>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142231"/>
            <a:ext cx="30632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50" b="0">
                <a:solidFill>
                  <a:srgbClr val="9AA3B2"/>
                </a:solidFill>
                <a:latin typeface="Segoe UI"/>
              </a:rPr>
              <a:t>Packet builder fills frame, length and CRC; CRC calculator &amp; search.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9AA3B2"/>
                </a:solidFill>
                <a:latin typeface="Segoe UI"/>
              </a:rPr>
              <a:t>Python 3.11 · PySide6 · offline · Windows &amp; Linux · JSON definitions · </a:t>
            </a:r>
            <a:r>
              <a:rPr sz="1500" b="1">
                <a:solidFill>
                  <a:srgbClr val="3FB950"/>
                </a:solidFill>
                <a:latin typeface="Segoe UI"/>
              </a:rPr>
              <a:t>131 automated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Layered architecture — the core never depends on the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diagram_architectu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418"/>
            <a:ext cx="8138160" cy="45941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15400" y="164592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core/</a:t>
            </a:r>
            <a:r>
              <a:rPr sz="1450" b="0">
                <a:solidFill>
                  <a:srgbClr val="E6E8EC"/>
                </a:solidFill>
                <a:latin typeface="Segoe UI"/>
              </a:rPr>
              <a:t> — decoding engine, CRC, encoder, analysis. No Qt.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gui/</a:t>
            </a:r>
            <a:r>
              <a:rPr sz="1450" b="0">
                <a:solidFill>
                  <a:srgbClr val="E6E8EC"/>
                </a:solidFill>
                <a:latin typeface="Segoe UI"/>
              </a:rPr>
              <a:t> — PySide6 views and dialogs; composes core calls.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protocols/</a:t>
            </a:r>
            <a:r>
              <a:rPr sz="1450" b="0">
                <a:solidFill>
                  <a:srgbClr val="E6E8EC"/>
                </a:solidFill>
                <a:latin typeface="Segoe UI"/>
              </a:rPr>
              <a:t> — JSON definitions: examples + yours.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A37BEF"/>
                </a:solidFill>
                <a:latin typeface="Segoe UI"/>
              </a:rPr>
              <a:t>ai/</a:t>
            </a:r>
            <a:r>
              <a:rPr sz="1450" b="0">
                <a:solidFill>
                  <a:srgbClr val="E6E8EC"/>
                </a:solidFill>
                <a:latin typeface="Segoe UI"/>
              </a:rPr>
              <a:t> — optional, pluggable, offline default.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9AA3B2"/>
                </a:solidFill>
                <a:latin typeface="Segoe UI"/>
              </a:rPr>
              <a:t>transport/</a:t>
            </a:r>
            <a:r>
              <a:rPr sz="1450" b="0">
                <a:solidFill>
                  <a:srgbClr val="E6E8EC"/>
                </a:solidFill>
                <a:latin typeface="Segoe UI"/>
              </a:rPr>
              <a:t> — interface ready for live capture.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PROTOCOL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Define a protocol once — as data, not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120640" cy="4526280"/>
          </a:xfrm>
          <a:prstGeom prst="roundRect">
            <a:avLst>
              <a:gd name="adj" fmla="val 6000"/>
            </a:avLst>
          </a:prstGeom>
          <a:solidFill>
            <a:srgbClr val="0F1115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846320" cy="4297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{ "name": "Dextens USB Protocol",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"default_endian": "little",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"frame": { "start_byte": "02", "end_byte": "03"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"fields": [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"STX", "type": "hex",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"offset": 0, "length": 1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"Address", "type": "uint8"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"Length", "type": "uint16"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"Payload", "type": "ascii",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"length_from": "Length"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"CRC", "type": "crc", "length": 2,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"crc": { "algorithm": "CRC-16/MODBUS",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       "range_start": "Address",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       "range_end": "Payload" } },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{ "name": "ETX", "type": "hex",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"offset": "last", "length": 1 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] }</a:t>
            </a:r>
          </a:p>
        </p:txBody>
      </p:sp>
      <p:pic>
        <p:nvPicPr>
          <p:cNvPr id="9" name="Picture 8" descr="12_protocol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13789"/>
            <a:ext cx="5440680" cy="3373221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502920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4FA3F7"/>
                </a:solidFill>
                <a:latin typeface="Segoe UI"/>
              </a:rPr>
              <a:t>▸  </a:t>
            </a:r>
            <a:r>
              <a:rPr sz="1300" b="0">
                <a:solidFill>
                  <a:srgbClr val="E6E8EC"/>
                </a:solidFill>
                <a:latin typeface="Segoe UI"/>
              </a:rPr>
              <a:t>Dynamic lengths: auto · last · from-end · length_from · remaining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FA3F7"/>
                </a:solidFill>
                <a:latin typeface="Segoe UI"/>
              </a:rPr>
              <a:t>▸  </a:t>
            </a:r>
            <a:r>
              <a:rPr sz="1300" b="0">
                <a:solidFill>
                  <a:srgbClr val="E6E8EC"/>
                </a:solidFill>
                <a:latin typeface="Segoe UI"/>
              </a:rPr>
              <a:t>16 types, endian, bit fields, value names, scale/unit, expected 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1 — decode the reference packet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01_decode_vali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6535"/>
            <a:ext cx="11064240" cy="4130649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8" name="Oval 7"/>
          <p:cNvSpPr/>
          <p:nvPr/>
        </p:nvSpPr>
        <p:spPr>
          <a:xfrm>
            <a:off x="777240" y="5760720"/>
            <a:ext cx="347472" cy="347472"/>
          </a:xfrm>
          <a:prstGeom prst="ellipse">
            <a:avLst/>
          </a:prstGeom>
          <a:solidFill>
            <a:srgbClr val="4FA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161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742432"/>
            <a:ext cx="3291839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6E8EC"/>
                </a:solidFill>
                <a:latin typeface="Segoe UI"/>
              </a:rPr>
              <a:t>Layout strip, table and HEX view share colours</a:t>
            </a:r>
          </a:p>
        </p:txBody>
      </p:sp>
      <p:sp>
        <p:nvSpPr>
          <p:cNvPr id="10" name="Oval 9"/>
          <p:cNvSpPr/>
          <p:nvPr/>
        </p:nvSpPr>
        <p:spPr>
          <a:xfrm>
            <a:off x="4526280" y="5760720"/>
            <a:ext cx="347472" cy="347472"/>
          </a:xfrm>
          <a:prstGeom prst="ellipse">
            <a:avLst/>
          </a:prstGeom>
          <a:solidFill>
            <a:srgbClr val="4FA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161B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5742432"/>
            <a:ext cx="31089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6E8EC"/>
                </a:solidFill>
                <a:latin typeface="Segoe UI"/>
              </a:rPr>
              <a:t>"get diag" — length from a 2-byte LE field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5760720"/>
            <a:ext cx="347472" cy="347472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161B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742432"/>
            <a:ext cx="3200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>
                <a:solidFill>
                  <a:srgbClr val="E6E8EC"/>
                </a:solidFill>
                <a:latin typeface="Segoe UI"/>
              </a:rPr>
              <a:t>CRC-16/MODBUS: received = calculated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The reference packet, byte by 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diagram_packet_ma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6682"/>
            <a:ext cx="11064240" cy="29445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466344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4663440"/>
            <a:ext cx="64008" cy="15087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4828031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Length is 2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1"/>
            <a:ext cx="4892040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15-byte packet + 8-byte payload only fits 08 00 as a little-endian UINT16.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66344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63640" y="4663440"/>
            <a:ext cx="64008" cy="15087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4828031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6E8EC"/>
                </a:solidFill>
                <a:latin typeface="Segoe UI"/>
              </a:rPr>
              <a:t>CRC found, not guessed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85231"/>
            <a:ext cx="4892040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CRC search: only CRC-16/MODBUS over offsets 1–11, low byte first, matches.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2 — malformed packets are explained, never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Segoe UI"/>
              </a:rPr>
              <a:t>Corrupted CRC  </a:t>
            </a:r>
            <a:r>
              <a:rPr sz="1300" b="0">
                <a:solidFill>
                  <a:srgbClr val="9AA3B2"/>
                </a:solidFill>
                <a:latin typeface="Segoe UI"/>
              </a:rPr>
              <a:t>→ status CRC ERROR; payload still decoded; calculated value shown</a:t>
            </a:r>
          </a:p>
        </p:txBody>
      </p:sp>
      <p:pic>
        <p:nvPicPr>
          <p:cNvPr id="8" name="Picture 7" descr="s_crc_error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496"/>
            <a:ext cx="11064240" cy="2175967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38404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Segoe UI"/>
              </a:rPr>
              <a:t>Length field = 0x20  </a:t>
            </a:r>
            <a:r>
              <a:rPr sz="1300" b="0">
                <a:solidFill>
                  <a:srgbClr val="9AA3B2"/>
                </a:solidFill>
                <a:latin typeface="Segoe UI"/>
              </a:rPr>
              <a:t>→ exceeds packet size; truncated fields marked; every problem explained</a:t>
            </a:r>
          </a:p>
        </p:txBody>
      </p:sp>
      <p:pic>
        <p:nvPicPr>
          <p:cNvPr id="10" name="Picture 9" descr="s_length_error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9816"/>
            <a:ext cx="11064240" cy="2175967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657600" y="6419088"/>
            <a:ext cx="7040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Segoe UI"/>
              </a:rPr>
              <a:t>Fuzz test: 120 random packets across the 3 example protocols — zero exceptions.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3 — bit fields, scaling and value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s_sensor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98548"/>
            <a:ext cx="7680960" cy="3438144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582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Scaling: </a:t>
            </a:r>
            <a:r>
              <a:rPr sz="1450" b="0">
                <a:solidFill>
                  <a:srgbClr val="E6E8EC"/>
                </a:solidFill>
                <a:latin typeface="Segoe UI"/>
              </a:rPr>
              <a:t>int16 × 0.1 → 23.5 °C, raw value kept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Bit fields: </a:t>
            </a:r>
            <a:r>
              <a:rPr sz="1450" b="0">
                <a:solidFill>
                  <a:srgbClr val="E6E8EC"/>
                </a:solidFill>
                <a:latin typeface="Segoe UI"/>
              </a:rPr>
              <a:t>0xA5 → Fault, Ready, Mode (2-bit enum)…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Value names: </a:t>
            </a:r>
            <a:r>
              <a:rPr sz="1450" b="0">
                <a:solidFill>
                  <a:srgbClr val="E6E8EC"/>
                </a:solidFill>
                <a:latin typeface="Segoe UI"/>
              </a:rPr>
              <a:t>Modbus 0x03 → Read Holding Registers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Expected bytes: </a:t>
            </a:r>
            <a:r>
              <a:rPr sz="1450" b="0">
                <a:solidFill>
                  <a:srgbClr val="E6E8EC"/>
                </a:solidFill>
                <a:latin typeface="Segoe UI"/>
              </a:rPr>
              <a:t>sync header AA 55 enforced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3FB950"/>
                </a:solidFill>
                <a:latin typeface="Segoe UI"/>
              </a:rPr>
              <a:t>Checksum: </a:t>
            </a:r>
            <a:r>
              <a:rPr sz="1450" b="0">
                <a:solidFill>
                  <a:srgbClr val="E6E8EC"/>
                </a:solidFill>
                <a:latin typeface="Segoe UI"/>
              </a:rPr>
              <a:t>SUM-8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4 — TX/RX Analyzer: request vs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s_txrx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8422"/>
            <a:ext cx="11064240" cy="3466795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64008" cy="118872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523951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Command vs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9671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"get diag"  →  "diag:OK", both CRCs 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0749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80" y="5074920"/>
            <a:ext cx="64008" cy="118872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26280" y="523951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Differences highlighted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69671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Length, Payload, CRC fields and byte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749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46720" y="5074920"/>
            <a:ext cx="64008" cy="1188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523951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Logged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69671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Both packets go to History (CSV export)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5 — reverse-engineer unknown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s_diff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7086"/>
            <a:ext cx="11064240" cy="3097987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466344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64008" cy="1280160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4828031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3200400" cy="548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Constant, ±1 counters, steps, toggles, 16/32-bit LE/BE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66344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80" y="4663440"/>
            <a:ext cx="64008" cy="12801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26280" y="4828031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Verified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285231"/>
            <a:ext cx="3200400" cy="548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CRC / checksum placement that matches every packet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66344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46720" y="4663440"/>
            <a:ext cx="64008" cy="12801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4828031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E8EC"/>
                </a:solidFill>
                <a:latin typeface="Segoe UI"/>
              </a:rPr>
              <a:t>Honest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285231"/>
            <a:ext cx="3200400" cy="548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Segoe UI"/>
              </a:rPr>
              <a:t>Meanings shown only as "Possible interpretation"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Segoe UI"/>
              </a:rPr>
              <a:t>Field names are added only when packet 1 decodes cleanly with the selected protocol.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Demo 6 — build packets and find CRCs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16_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2228"/>
            <a:ext cx="4572000" cy="2939142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pic>
        <p:nvPicPr>
          <p:cNvPr id="8" name="Picture 7" descr="17_crc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1417320"/>
            <a:ext cx="6092190" cy="4754880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754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4FA3F7"/>
                </a:solidFill>
                <a:latin typeface="Segoe UI"/>
              </a:rPr>
              <a:t>▸  </a:t>
            </a:r>
            <a:r>
              <a:rPr sz="1350" b="0">
                <a:solidFill>
                  <a:srgbClr val="E6E8EC"/>
                </a:solidFill>
                <a:latin typeface="Segoe UI"/>
              </a:rPr>
              <a:t>Type only Address + Payload; frame, length and CRC are computed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4FA3F7"/>
                </a:solidFill>
                <a:latin typeface="Segoe UI"/>
              </a:rPr>
              <a:t>▸  </a:t>
            </a:r>
            <a:r>
              <a:rPr sz="1350" b="0">
                <a:solidFill>
                  <a:srgbClr val="E6E8EC"/>
                </a:solidFill>
                <a:latin typeface="Segoe UI"/>
              </a:rPr>
              <a:t>Values may be names, 0x…, or engineering units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AI analysis — optional, pluggable, clearly 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pic>
        <p:nvPicPr>
          <p:cNvPr id="7" name="Picture 6" descr="s_analysis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092" y="1371600"/>
            <a:ext cx="4280534" cy="4892040"/>
          </a:xfrm>
          <a:prstGeom prst="rect">
            <a:avLst/>
          </a:prstGeom>
          <a:ln w="12700">
            <a:solidFill>
              <a:srgbClr val="343A4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26679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3FB950"/>
                </a:solidFill>
                <a:latin typeface="Segoe UI"/>
              </a:rPr>
              <a:t>Decoder = source of truth. </a:t>
            </a:r>
            <a:r>
              <a:rPr sz="1450" b="0">
                <a:solidFill>
                  <a:srgbClr val="E6E8EC"/>
                </a:solidFill>
                <a:latin typeface="Segoe UI"/>
              </a:rPr>
              <a:t>AI only reads the DecodeResult.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D29922"/>
                </a:solidFill>
                <a:latin typeface="Segoe UI"/>
              </a:rPr>
              <a:t>Labelled inference. </a:t>
            </a:r>
            <a:r>
              <a:rPr sz="1450" b="0">
                <a:solidFill>
                  <a:srgbClr val="E6E8EC"/>
                </a:solidFill>
                <a:latin typeface="Segoe UI"/>
              </a:rPr>
              <a:t>"AI inference" / "Possible interpretation".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4FA3F7"/>
                </a:solidFill>
                <a:latin typeface="Segoe UI"/>
              </a:rPr>
              <a:t>Offline by default. </a:t>
            </a:r>
            <a:r>
              <a:rPr sz="1450" b="0">
                <a:solidFill>
                  <a:srgbClr val="E6E8EC"/>
                </a:solidFill>
                <a:latin typeface="Segoe UI"/>
              </a:rPr>
              <a:t>Heuristic backend, no network.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4FA3F7"/>
                </a:solidFill>
                <a:latin typeface="Segoe UI"/>
              </a:rPr>
              <a:t>▸  </a:t>
            </a:r>
            <a:r>
              <a:rPr sz="1450" b="1">
                <a:solidFill>
                  <a:srgbClr val="A37BEF"/>
                </a:solidFill>
                <a:latin typeface="Segoe UI"/>
              </a:rPr>
              <a:t>Provider-neutral. </a:t>
            </a:r>
            <a:r>
              <a:rPr sz="1450" b="0">
                <a:solidFill>
                  <a:srgbClr val="E6E8EC"/>
                </a:solidFill>
                <a:latin typeface="Segoe UI"/>
              </a:rPr>
              <a:t>Subclass AIAnalyzer; prompt pins the model to the decode.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560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3FB950"/>
                </a:solidFill>
                <a:latin typeface="Segoe UI"/>
              </a:rPr>
              <a:t>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40" y="1737360"/>
            <a:ext cx="2560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4FA3F7"/>
                </a:solidFill>
                <a:latin typeface="Segoe U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889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CRC presets verified</a:t>
            </a:r>
          </a:p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against check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2560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D29922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crashes on fuzzed</a:t>
            </a:r>
          </a:p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random packets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0020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06840" y="1737360"/>
            <a:ext cx="2560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A37BE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889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runtime dependency</a:t>
            </a:r>
          </a:p>
          <a:p>
            <a:pPr algn="ctr"/>
            <a:r>
              <a:rPr sz="1400" b="0">
                <a:solidFill>
                  <a:srgbClr val="9AA3B2"/>
                </a:solidFill>
                <a:latin typeface="Segoe UI"/>
              </a:rPr>
              <a:t>(PySide6)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0">
                <a:solidFill>
                  <a:srgbClr val="E6E8EC"/>
                </a:solidFill>
                <a:latin typeface="Segoe UI"/>
              </a:rPr>
              <a:t>Reference packet decoded field-by-field and re-encoded byte-for-byte in the test suite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0">
                <a:solidFill>
                  <a:srgbClr val="E6E8EC"/>
                </a:solidFill>
                <a:latin typeface="Segoe UI"/>
              </a:rPr>
              <a:t>Invalid packets covered: bad HEX, truncation, oversized length, missing STX/ETX, CRC mismatch, trailing bytes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0">
                <a:solidFill>
                  <a:srgbClr val="E6E8EC"/>
                </a:solidFill>
                <a:latin typeface="Segoe UI"/>
              </a:rPr>
              <a:t>GUI smoke tests drive the real window headless: Decode button, Ctrl+Enter, tabs, dialogs, ingest hook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0">
                <a:solidFill>
                  <a:srgbClr val="E6E8EC"/>
                </a:solidFill>
                <a:latin typeface="Segoe UI"/>
              </a:rPr>
              <a:t>Core has no GUI imports — decoding is scriptable: decode_packet(protocol, data).to_text()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64008" cy="1874519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Encoder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Live encode, deliberate bad CRC/length for negative tests, sequences, C/Python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1874519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Live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UART / USB-CDC / CAN / TCP via TransportInterface + stream framers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64008" cy="1874519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Auto-detection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Decode against every protocol and rank by validity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" y="3657600"/>
            <a:ext cx="64008" cy="1874519"/>
          </a:xfrm>
          <a:prstGeom prst="rect">
            <a:avLst/>
          </a:prstGeom>
          <a:solidFill>
            <a:srgbClr val="A37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AI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7939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Propose field layouts from diff-analyzer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89120" y="3657600"/>
            <a:ext cx="64008" cy="1874519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17720" y="382219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Conditional layouts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7939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Structure by function code (e.g. Modbus data)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6576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01000" y="3657600"/>
            <a:ext cx="64008" cy="1874519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0" y="3822191"/>
            <a:ext cx="3063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8EC"/>
                </a:solidFill>
                <a:latin typeface="Segoe UI"/>
              </a:rPr>
              <a:t>Replay &amp; test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79392"/>
            <a:ext cx="3063240" cy="11429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Segoe UI"/>
              </a:rPr>
              <a:t>Packet replay, firmware log analysis, HEX editor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FA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A3F7"/>
                </a:solidFill>
                <a:latin typeface="Segoe UI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E8EC"/>
                </a:solidFill>
                <a:latin typeface="Segoe U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Segoe UI"/>
              </a:rPr>
              <a:t>Firmware Protocol Decoder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0F1115"/>
          </a:solidFill>
          <a:ln w="9525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>cd protocol_decoder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>pip install -r requirements.txt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>python main.py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>python -m unittest discover -s tests -t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1">
                <a:solidFill>
                  <a:srgbClr val="4FA3F7"/>
                </a:solidFill>
                <a:latin typeface="Segoe UI"/>
              </a:rPr>
              <a:t>README.md</a:t>
            </a:r>
            <a:r>
              <a:rPr sz="1500" b="0">
                <a:solidFill>
                  <a:srgbClr val="E6E8EC"/>
                </a:solidFill>
                <a:latin typeface="Segoe UI"/>
              </a:rPr>
              <a:t> — user guide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1">
                <a:solidFill>
                  <a:srgbClr val="4FA3F7"/>
                </a:solidFill>
                <a:latin typeface="Segoe UI"/>
              </a:rPr>
              <a:t>docs/…Design_Document.docx</a:t>
            </a:r>
            <a:r>
              <a:rPr sz="1500" b="0">
                <a:solidFill>
                  <a:srgbClr val="E6E8EC"/>
                </a:solidFill>
                <a:latin typeface="Segoe UI"/>
              </a:rPr>
              <a:t> — design reference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1">
                <a:solidFill>
                  <a:srgbClr val="4FA3F7"/>
                </a:solidFill>
                <a:latin typeface="Segoe UI"/>
              </a:rPr>
              <a:t>protocols/examples/</a:t>
            </a:r>
            <a:r>
              <a:rPr sz="1500" b="0">
                <a:solidFill>
                  <a:srgbClr val="E6E8EC"/>
                </a:solidFill>
                <a:latin typeface="Segoe UI"/>
              </a:rPr>
              <a:t> — Dextens, Modbus RTU, Sensor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FA3F7"/>
                </a:solidFill>
                <a:latin typeface="Segoe UI"/>
              </a:rPr>
              <a:t>▸  </a:t>
            </a:r>
            <a:r>
              <a:rPr sz="1500" b="1">
                <a:solidFill>
                  <a:srgbClr val="4FA3F7"/>
                </a:solidFill>
                <a:latin typeface="Segoe UI"/>
              </a:rPr>
              <a:t>protocols/user/</a:t>
            </a:r>
            <a:r>
              <a:rPr sz="1500" b="0">
                <a:solidFill>
                  <a:srgbClr val="E6E8EC"/>
                </a:solidFill>
                <a:latin typeface="Segoe UI"/>
              </a:rPr>
              <a:t> — your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7899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6E8EC"/>
                </a:solidFill>
                <a:latin typeface="Segoe UI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9AA3B2"/>
                </a:solidFill>
                <a:latin typeface="Segoe UI"/>
              </a:rPr>
              <a:t>Describe the protocol once. Let the tool count, convert and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Firmware Protocol Decoder — Demo</dc:title>
  <dc:subject/>
  <dc:creator>Vinaya Kumar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